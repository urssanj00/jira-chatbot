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90" r:id="rId4"/>
    <p:sldId id="291" r:id="rId5"/>
    <p:sldId id="258" r:id="rId6"/>
    <p:sldId id="296" r:id="rId7"/>
    <p:sldId id="292" r:id="rId8"/>
    <p:sldId id="289" r:id="rId9"/>
    <p:sldId id="293" r:id="rId10"/>
    <p:sldId id="295" r:id="rId11"/>
    <p:sldId id="268" r:id="rId12"/>
    <p:sldId id="275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A9DCD0-154F-4AF3-BD4E-1111D73AEF13}">
          <p14:sldIdLst>
            <p14:sldId id="290"/>
            <p14:sldId id="291"/>
            <p14:sldId id="258"/>
            <p14:sldId id="296"/>
            <p14:sldId id="292"/>
            <p14:sldId id="289"/>
            <p14:sldId id="293"/>
            <p14:sldId id="295"/>
            <p14:sldId id="268"/>
          </p14:sldIdLst>
        </p14:section>
        <p14:section name="Appendix" id="{942299CB-966A-4D6B-92FE-4F039CAF21E9}">
          <p14:sldIdLst>
            <p14:sldId id="275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67" autoAdjust="0"/>
  </p:normalViewPr>
  <p:slideViewPr>
    <p:cSldViewPr snapToGrid="0">
      <p:cViewPr varScale="1">
        <p:scale>
          <a:sx n="81" d="100"/>
          <a:sy n="81" d="100"/>
        </p:scale>
        <p:origin x="8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5F-2063-042B-09FA-941B06179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6F8AD-20DB-A116-17A1-EBA31B508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416B-942A-21C9-1E02-5AC4BAF9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196CB-2D28-F520-5356-98E4271B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0FCCE-0FF0-B497-EC13-4EDB28AE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41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AE68-9E43-A7A8-14E3-CB57FDF1B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6F969-2475-BBCA-D8EF-1B502DCC0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C596-9A4D-2320-2F77-EC429923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7633-8A21-CCEC-BA48-6D729304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41D86-EE25-0373-4CA0-0B97BC4F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5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EB4A-B8A4-0980-85FB-D3B8D582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F6844-CD1F-8CF3-9620-D35C87220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2F1E-4547-63CA-2EB9-DAB3B07E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8EFA0-6F48-EB23-4DAB-6BE47D571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920F7-7DB2-DC0F-CDE8-FB36AB53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5DEDC-8CD6-DC8A-4CE9-1CBE04FD93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32" y="0"/>
            <a:ext cx="999067" cy="9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8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A38C-00D6-2EAA-C996-6B580F34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9975-8E3E-7822-5BEE-7A12884D4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561A6-68E0-BEA6-CC1C-231A6C571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2EB3D-5B18-976A-C4C8-C8409379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01AC8-49DF-F568-FE26-842A0181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D0AC4-C5D3-F185-5A88-3A226E02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83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A4EF-03C8-0EC1-1E6E-532153F6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3BA51-9A74-9F6C-1696-AE5BD1889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0D207-105D-07AF-B37A-BB9E06A2F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FA4E8-C971-D943-5DA2-9A36973F5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7EB04-8B05-9206-3673-B83445541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E2561-A17C-4028-D2E8-4750D318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10AAE-73A9-7046-1415-9D46BF77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9AE17-1417-419C-1237-92869ED63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00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1688-DAD2-7717-52B2-3028C3F5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DE9D9-F384-6B19-2BDA-6DEE6EF5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725BB-8A18-B68A-6EF1-2444C3DC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6442E-C334-4A15-A0DC-825B1275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34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0BE0F-DB9D-4425-D437-0185760B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53C73-B7D3-285F-D4A1-A93655E2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48CED-5E6C-1DC2-699E-F8565978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5139-6D1A-6FD2-4233-C3905FA8F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767B8-F8C0-AA5A-DFAE-DA30DE161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CBC2F-7BC6-B9E5-4D2C-E25A1CEE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3AD9C-E984-0C86-BD99-D8F0644C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03A0C-17FD-CC4A-8B09-6A1B808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D48B7-D8D8-34F5-D942-7028A4C2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54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73D8-F60C-46DA-F01E-0CED84E3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C57F8-9E84-1829-D400-54087F4C8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0CD16-5122-653F-75A1-3C501E4E1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6C08E-ABE7-0196-7305-30E6A08F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DDB3E-9357-6FC1-10BC-61292EC1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3B33D-F0AC-BEED-7B45-3C4C0B73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65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FC83-56BB-0076-D098-04B41FA7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DEE04-8E41-A9A0-1696-09634701F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5C16A-924C-73D4-8CFD-0E690D24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EBC2-098A-F06E-259B-B6102054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CC52-AC2E-D600-F970-1300D47E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85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B018D-261E-ED1F-0B12-9FBABFBB1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A6FC5-5E6C-1879-FD77-E15A0F917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0B65D-95F7-22C0-0FB2-2A56DD49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63C04-E2FF-99C8-8878-C9084EE0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E6D05-0BDC-2BF6-4B48-A7BCD2E2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38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372B-25BB-DA14-8110-1F7A06AD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7B852-6DB8-AA2A-44A2-43E45331B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55DC3-60BF-C421-57BD-808C6D81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E748-9C43-C07B-1967-F6151A4C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B5344-F373-0F85-7A42-20962067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61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D908-BF3D-D8B0-7992-D4971392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F7377-38E8-0448-A4D9-9E8F648B0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BF28-F49C-F72A-D5B4-8830103D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6490-5B91-1BF2-3C7E-C8B1E71D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15DB-0580-898E-6568-17EF1426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373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2D0C-59C7-A347-2171-286015BC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66F76-8565-FCBC-58E3-D26ED742E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CD0C-E856-F2D2-765C-02FD6AF5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8B775-FBD8-92E5-2C1A-4764FF41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4FB28-CF3A-573B-3E2D-E910F5ED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28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AE75-775A-7D0E-6439-2480D8BC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953E-6200-452A-D065-2F6089DD9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B9E99-0C98-19EE-5A1E-59141CCCC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8D242-2A12-058A-CBF7-F6A3BE02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C910A-B8D1-194C-89BD-9876AFF8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40547-59A7-7A6E-48AA-D783B69F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82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0FEB-046F-3C61-6D04-4BD85BD3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84A65-9275-8DBE-79FC-7798CD8AB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22C2-CE63-5DA5-E5D9-258BC4D8D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AD374-2FB6-C916-6051-3D2515E3B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8EEBF-2FBC-F847-CC5C-87B72A9F4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E1362-AEBA-2B79-79EA-37B1B133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5A6461-DD35-3C1A-AD1A-337A2BC2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CF807-C421-53FA-6E49-E28FC4F7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35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ACE4-B248-362F-D90C-00C19579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289D2-0F0B-737A-FFBE-1B473561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76264-DFCF-F265-3F81-776BFA5B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6DCF8-66B3-9183-73DE-FCB5339E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30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B9B3C-89F5-F292-D10A-D0796350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2B3A3-A6B7-496C-DC97-707AB698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98E5B-4956-DFFD-AF16-96EFCF5B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880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D310-E5BC-C90B-8CDD-FED37424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8A81A-51F2-9501-0BE0-5EA90A3D9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AE961-077C-AAC7-98BF-0A4E3D73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5595B-8C56-27DE-D80C-D7FACA6B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45F2F-9A0E-A768-11C4-0AAA1E85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9E476-33CE-9BEB-4AC7-D9E3E013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294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B50D-C9A0-77A1-E3FB-B0F5E493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D80C7-DC85-D1DA-D41D-D635ACC1E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313FE-FBDE-24D5-8189-252BB772D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AF23-111B-3DAC-1411-F52631E1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4A9DB-6546-7BA6-915C-55985DCC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3AE4-ADC9-68BF-5FF2-E5CBA1BF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06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B312-D6E3-52E6-45EF-D9A64E3E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E17EA-13A5-00A9-6CF2-B09BA894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7E4A7-3C48-E9CB-F9BF-D23FB8F1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89B6-9C65-138B-5915-ABFD509F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DE77-4261-6413-0307-261E652D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3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2482A-E746-AF67-3C10-59BD60737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A3500-AB15-551D-6296-6C8C2450B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5994F-8FF6-8297-4DA1-6A9203BD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864AF-5207-FEE5-6ED6-7F08A0AC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C07B-1090-9098-7133-56F863E6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244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4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534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386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698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0193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2191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4420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9DC21E-BF51-21FC-6FF7-F6B3826E88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32" y="0"/>
            <a:ext cx="999067" cy="9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00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1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720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73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40CFB-0BB3-F2A5-C789-8CAC4FB7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73503-0E1A-7FBB-76E6-5EB517E53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A7F2D-4789-E689-77BD-87F084A01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43BB9-C043-4B5C-8B06-950047F3FC3E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4CFAA-54C5-E2F2-9212-303FCA63C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4ED55-5F55-2A01-240A-14C2DE2C0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C7725-F3D1-41F5-BBB5-6D8CA2CC5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29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5C734-73CE-B677-8CA3-83BAA367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6C374-C873-95A5-8C96-854BB44B8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CA850-F0D2-4119-E099-68634A41E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98BFF-10DC-4F7D-AF77-F5A668CC7D28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F816-0460-4D69-00D2-F48DF7489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15EBD-3C41-CD80-CEDF-11C8835A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A49B1-8060-426B-A84D-B4D0C98668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01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7A6EE9-FF45-4DE0-B75C-5E662F9564FA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5F1CB8-66A5-4F4C-B3BD-0F06E3F7A56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16548DD-6BA0-DA6C-F1AA-461C8C40C30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930" y="0"/>
            <a:ext cx="1195070" cy="119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6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html/2406.02290v1" TargetMode="Externa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08818-0550-3827-9842-7AEEE67BF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69" y="0"/>
            <a:ext cx="2172462" cy="2172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41A9C8-94DC-F191-98E3-E1EC12FDC4BF}"/>
              </a:ext>
            </a:extLst>
          </p:cNvPr>
          <p:cNvSpPr txBox="1"/>
          <p:nvPr/>
        </p:nvSpPr>
        <p:spPr>
          <a:xfrm>
            <a:off x="1444752" y="2180039"/>
            <a:ext cx="9921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2"/>
                </a:solidFill>
                <a:latin typeface="Calibri Light (Headings)"/>
              </a:rPr>
              <a:t>Visvesvaraya National Institute of Technology (VNIT), Nagpur</a:t>
            </a:r>
          </a:p>
          <a:p>
            <a:pPr algn="ctr"/>
            <a:r>
              <a:rPr lang="en-IN" dirty="0">
                <a:solidFill>
                  <a:schemeClr val="tx2"/>
                </a:solidFill>
                <a:latin typeface="Calibri Light (Headings)"/>
              </a:rPr>
              <a:t>Department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  <a:latin typeface="Calibri Light (Headings)"/>
              </a:rPr>
              <a:t>of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  <a:latin typeface="Calibri Light (Headings)"/>
              </a:rPr>
              <a:t>Electronics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  <a:latin typeface="Calibri Light (Headings)"/>
              </a:rPr>
              <a:t>and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  <a:latin typeface="Calibri Light (Headings)"/>
              </a:rPr>
              <a:t>Communication</a:t>
            </a:r>
            <a:r>
              <a:rPr lang="en-IN" dirty="0"/>
              <a:t> </a:t>
            </a:r>
            <a:r>
              <a:rPr lang="en-IN" dirty="0">
                <a:solidFill>
                  <a:schemeClr val="tx2"/>
                </a:solidFill>
                <a:latin typeface="Calibri Light (Headings)"/>
              </a:rPr>
              <a:t>Engineering</a:t>
            </a:r>
          </a:p>
          <a:p>
            <a:pPr algn="ctr"/>
            <a:endParaRPr lang="en-IN" dirty="0">
              <a:solidFill>
                <a:schemeClr val="tx2"/>
              </a:solidFill>
              <a:latin typeface="Calibri Light (Headings)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CCCB29-17B6-4CB1-7D9E-4DC4C18772C4}"/>
              </a:ext>
            </a:extLst>
          </p:cNvPr>
          <p:cNvSpPr txBox="1">
            <a:spLocks/>
          </p:cNvSpPr>
          <p:nvPr/>
        </p:nvSpPr>
        <p:spPr>
          <a:xfrm>
            <a:off x="1055346" y="4382514"/>
            <a:ext cx="9231656" cy="4496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+mn-lt"/>
                <a:ea typeface="+mn-ea"/>
                <a:cs typeface="+mn-cs"/>
              </a:rPr>
              <a:t>Submitted</a:t>
            </a:r>
            <a:r>
              <a:rPr lang="en-US" sz="1800" dirty="0"/>
              <a:t> </a:t>
            </a:r>
            <a:r>
              <a:rPr lang="en-US" sz="1800" dirty="0">
                <a:latin typeface="+mn-lt"/>
                <a:ea typeface="+mn-ea"/>
                <a:cs typeface="+mn-cs"/>
              </a:rPr>
              <a:t>To: </a:t>
            </a:r>
            <a:r>
              <a:rPr lang="en-IN" sz="1800" dirty="0">
                <a:latin typeface="+mn-lt"/>
                <a:ea typeface="+mn-ea"/>
                <a:cs typeface="+mn-cs"/>
              </a:rPr>
              <a:t>Dr. Saugata</a:t>
            </a:r>
            <a:r>
              <a:rPr lang="en-IN" sz="1800" dirty="0"/>
              <a:t> </a:t>
            </a:r>
            <a:r>
              <a:rPr lang="en-IN" sz="1800" dirty="0">
                <a:latin typeface="+mn-lt"/>
                <a:ea typeface="+mn-ea"/>
                <a:cs typeface="+mn-cs"/>
              </a:rPr>
              <a:t>Sinha</a:t>
            </a:r>
            <a:endParaRPr lang="en-US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4F2420-4E47-6DC7-267F-F31E8DC63711}"/>
              </a:ext>
            </a:extLst>
          </p:cNvPr>
          <p:cNvSpPr txBox="1">
            <a:spLocks/>
          </p:cNvSpPr>
          <p:nvPr/>
        </p:nvSpPr>
        <p:spPr>
          <a:xfrm>
            <a:off x="980714" y="4923742"/>
            <a:ext cx="10535996" cy="1366699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Submitted by: (Group13)</a:t>
            </a:r>
          </a:p>
          <a:p>
            <a:r>
              <a:rPr lang="en-US" dirty="0"/>
              <a:t>Mr. Abhinav Srivastava 		</a:t>
            </a:r>
            <a:r>
              <a:rPr lang="en-IN" dirty="0"/>
              <a:t>Mr. Sanjeev Pandey		Mr. Sanjay Joshi</a:t>
            </a:r>
            <a:endParaRPr lang="en-US" dirty="0"/>
          </a:p>
          <a:p>
            <a:r>
              <a:rPr lang="en-US" sz="1800" dirty="0"/>
              <a:t>Enroll No. MT23AAI008		</a:t>
            </a:r>
            <a:r>
              <a:rPr lang="en-IN" sz="1800" dirty="0"/>
              <a:t>MT23AAI001</a:t>
            </a:r>
            <a:r>
              <a:rPr lang="en-IN" dirty="0"/>
              <a:t>			</a:t>
            </a:r>
            <a:r>
              <a:rPr lang="en-IN" sz="1800" dirty="0"/>
              <a:t>MT23AAI038</a:t>
            </a:r>
            <a:endParaRPr lang="en-US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8B8EE3-B0AD-EBFE-EFED-BA82D5837580}"/>
              </a:ext>
            </a:extLst>
          </p:cNvPr>
          <p:cNvSpPr txBox="1">
            <a:spLocks/>
          </p:cNvSpPr>
          <p:nvPr/>
        </p:nvSpPr>
        <p:spPr>
          <a:xfrm>
            <a:off x="837254" y="3573210"/>
            <a:ext cx="11074400" cy="4496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400" cap="all" spc="200" dirty="0">
                <a:solidFill>
                  <a:schemeClr val="tx2"/>
                </a:solidFill>
                <a:ea typeface="+mn-ea"/>
                <a:cs typeface="+mn-cs"/>
              </a:rPr>
              <a:t>NLP Chatbot For Jira Data</a:t>
            </a:r>
            <a:endParaRPr lang="en-IN" sz="2400" cap="all" spc="200" dirty="0">
              <a:solidFill>
                <a:schemeClr val="tx2"/>
              </a:solidFill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B679FB-4FF3-5881-AF95-44CE146D2BD7}"/>
              </a:ext>
            </a:extLst>
          </p:cNvPr>
          <p:cNvSpPr txBox="1">
            <a:spLocks/>
          </p:cNvSpPr>
          <p:nvPr/>
        </p:nvSpPr>
        <p:spPr>
          <a:xfrm>
            <a:off x="3777519" y="3044364"/>
            <a:ext cx="5057745" cy="4496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M.Tech. Applied AI, Semester 3 Session: </a:t>
            </a:r>
            <a:r>
              <a:rPr lang="en-US" sz="1800" dirty="0">
                <a:solidFill>
                  <a:schemeClr val="tx2"/>
                </a:solidFill>
                <a:latin typeface="Calibri Light (Headings)"/>
                <a:ea typeface="+mn-ea"/>
                <a:cs typeface="+mn-cs"/>
              </a:rPr>
              <a:t>Summer</a:t>
            </a:r>
            <a:r>
              <a:rPr lang="en-US" sz="1800" dirty="0"/>
              <a:t> 2025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9620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490D-05EB-AC2F-2838-92934C0D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DFA1-8DA9-B382-C71B-E1A1D3C9E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develop a Chatbot which can answer user queries based on JIRA(Apache -Spark) issue data:</a:t>
            </a:r>
          </a:p>
          <a:p>
            <a:endParaRPr lang="en-US" dirty="0"/>
          </a:p>
          <a:p>
            <a:r>
              <a:rPr lang="en-US" dirty="0"/>
              <a:t>JIRA is widely used for tracking software issues and project tasks, but its interface and</a:t>
            </a:r>
          </a:p>
          <a:p>
            <a:r>
              <a:rPr lang="en-US" dirty="0"/>
              <a:t>search capabilities can be overwhelming when handling large-scale data. </a:t>
            </a:r>
          </a:p>
          <a:p>
            <a:r>
              <a:rPr lang="en-US" dirty="0"/>
              <a:t>The goal of this project is to create an NLP-powered chatbot interface that enables </a:t>
            </a:r>
          </a:p>
          <a:p>
            <a:r>
              <a:rPr lang="en-US" dirty="0"/>
              <a:t>semantic querying of Apache JIRA issue data (specifically the SPARK project) using natural language.</a:t>
            </a:r>
          </a:p>
          <a:p>
            <a:endParaRPr lang="en-US" dirty="0"/>
          </a:p>
          <a:p>
            <a:r>
              <a:rPr lang="en-US" dirty="0"/>
              <a:t>The chatbot is powered by a locally deployed Llama 2 7B language model using `</a:t>
            </a:r>
            <a:r>
              <a:rPr lang="en-US" dirty="0" err="1"/>
              <a:t>llama_cpp</a:t>
            </a:r>
            <a:r>
              <a:rPr lang="en-US" dirty="0"/>
              <a:t>`,</a:t>
            </a:r>
          </a:p>
          <a:p>
            <a:r>
              <a:rPr lang="en-US" dirty="0"/>
              <a:t>supported by fine-tuned </a:t>
            </a:r>
            <a:r>
              <a:rPr lang="en-US" dirty="0" err="1"/>
              <a:t>SentenceTransformer</a:t>
            </a:r>
            <a:r>
              <a:rPr lang="en-US" dirty="0"/>
              <a:t> embeddings for efficient semantic search.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2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4740-F077-7323-D5CC-436B0E3D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54E6-71B6-9114-B8EC-1AB1C97B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A0D063-B474-89AA-4D50-5EA15C3E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53892" cy="4421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Source: </a:t>
            </a:r>
          </a:p>
          <a:p>
            <a:pPr marL="0" indent="0">
              <a:buNone/>
            </a:pPr>
            <a:r>
              <a:rPr lang="en-US" b="1" dirty="0"/>
              <a:t>Apache JIRA REST API: </a:t>
            </a:r>
            <a:r>
              <a:rPr lang="en-US" dirty="0"/>
              <a:t>Contains issues (bugs, feature requests, tasks, etc.) tracked in Apache's JIRA system.</a:t>
            </a:r>
          </a:p>
          <a:p>
            <a:r>
              <a:rPr lang="en-US" dirty="0"/>
              <a:t>Each issue in the dataset corresponds to a </a:t>
            </a:r>
            <a:r>
              <a:rPr lang="en-US" b="1" dirty="0"/>
              <a:t>JIRA issue</a:t>
            </a:r>
            <a:r>
              <a:rPr lang="en-US" dirty="0"/>
              <a:t> (a bug report, feature request, task, etc.) from Apache’s projects.</a:t>
            </a:r>
          </a:p>
          <a:p>
            <a:r>
              <a:rPr lang="en-US" dirty="0"/>
              <a:t>A typical issue record contains:</a:t>
            </a:r>
          </a:p>
          <a:p>
            <a:r>
              <a:rPr lang="en-US" dirty="0"/>
              <a:t>Metadata about the issue (ID, key, project)</a:t>
            </a:r>
          </a:p>
          <a:p>
            <a:r>
              <a:rPr lang="en-US" dirty="0"/>
              <a:t>Key fields: key, </a:t>
            </a:r>
            <a:r>
              <a:rPr lang="en-US" dirty="0" err="1"/>
              <a:t>issuetype</a:t>
            </a:r>
            <a:r>
              <a:rPr lang="en-US" dirty="0"/>
              <a:t>, summary, description, reporter, status, priority, reporter, assignee, created, updated,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full_text</a:t>
            </a:r>
            <a:r>
              <a:rPr lang="en-US" altLang="en-US" dirty="0">
                <a:solidFill>
                  <a:schemeClr val="tx1"/>
                </a:solidFill>
              </a:rPr>
              <a:t>,</a:t>
            </a:r>
            <a:r>
              <a:rPr 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output </a:t>
            </a:r>
            <a:r>
              <a:rPr lang="en-US" dirty="0"/>
              <a:t>and timestamps.</a:t>
            </a:r>
          </a:p>
          <a:p>
            <a:r>
              <a:rPr lang="en-US" dirty="0"/>
              <a:t>The data size for SPARK is 35,000+ issues and overall the data set contains 2M+ issues</a:t>
            </a:r>
          </a:p>
          <a:p>
            <a:r>
              <a:rPr lang="en-US" b="1" dirty="0"/>
              <a:t>We are using 5000 issues from Apache Spark Jira dataset.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908A715-E57B-390D-8CEE-9574918C5D80}"/>
              </a:ext>
            </a:extLst>
          </p:cNvPr>
          <p:cNvSpPr txBox="1">
            <a:spLocks/>
          </p:cNvSpPr>
          <p:nvPr/>
        </p:nvSpPr>
        <p:spPr>
          <a:xfrm>
            <a:off x="2539825" y="11138009"/>
            <a:ext cx="5476941" cy="4890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b="1" dirty="0"/>
              <a:t>Data Source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84B46F-BDEF-CF92-ACD6-D68B947A8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90" y="6419955"/>
            <a:ext cx="349505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https://issues.apache.org/jira/rest/api/2/search </a:t>
            </a:r>
          </a:p>
        </p:txBody>
      </p:sp>
    </p:spTree>
    <p:extLst>
      <p:ext uri="{BB962C8B-B14F-4D97-AF65-F5344CB8AC3E}">
        <p14:creationId xmlns:p14="http://schemas.microsoft.com/office/powerpoint/2010/main" val="365719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6756-D64A-252A-A0B2-9A27DAD7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CAF4-B50E-C486-480F-6F8C4C5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9EEFB0B-265E-2BD4-DE59-76650E8EC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53892" cy="442105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Arial Unicode MS"/>
              </a:rPr>
              <a:t>We have selected following fields for our chatbot: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1500" dirty="0" err="1">
                <a:solidFill>
                  <a:schemeClr val="tx1"/>
                </a:solidFill>
              </a:rPr>
              <a:t>issue_id</a:t>
            </a:r>
            <a:r>
              <a:rPr lang="en-US" altLang="en-US" sz="1500" dirty="0">
                <a:solidFill>
                  <a:schemeClr val="tx1"/>
                </a:solidFill>
              </a:rPr>
              <a:t>: Identifier for the issue (e.g., ISSUE-0).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1500" dirty="0">
                <a:solidFill>
                  <a:schemeClr val="tx1"/>
                </a:solidFill>
              </a:rPr>
              <a:t>type (or </a:t>
            </a:r>
            <a:r>
              <a:rPr lang="en-US" altLang="en-US" sz="1500" dirty="0" err="1">
                <a:solidFill>
                  <a:schemeClr val="tx1"/>
                </a:solidFill>
              </a:rPr>
              <a:t>issuetype</a:t>
            </a:r>
            <a:r>
              <a:rPr lang="en-US" altLang="en-US" sz="1500" dirty="0">
                <a:solidFill>
                  <a:schemeClr val="tx1"/>
                </a:solidFill>
              </a:rPr>
              <a:t>):: Type of the issue (e.g., Task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1500" dirty="0">
                <a:solidFill>
                  <a:schemeClr val="tx1"/>
                </a:solidFill>
              </a:rPr>
              <a:t>summary: A brief summary of the issue (can be empty)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lang="en-US" altLang="en-US" sz="1500" dirty="0">
                <a:solidFill>
                  <a:schemeClr val="tx1"/>
                </a:solidFill>
              </a:rPr>
              <a:t>status: Status of the issue (e.g., Unknown)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5"/>
            </a:pPr>
            <a:r>
              <a:rPr lang="en-US" altLang="en-US" sz="1500" dirty="0">
                <a:solidFill>
                  <a:schemeClr val="tx1"/>
                </a:solidFill>
              </a:rPr>
              <a:t>priority: Priority level (e.g., Medium)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6"/>
            </a:pPr>
            <a:r>
              <a:rPr lang="en-US" altLang="en-US" sz="1500" dirty="0">
                <a:solidFill>
                  <a:schemeClr val="tx1"/>
                </a:solidFill>
              </a:rPr>
              <a:t>Description: Additional description of the issue (can be empty).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7"/>
            </a:pPr>
            <a:r>
              <a:rPr lang="en-US" altLang="en-US" sz="1500" dirty="0" err="1">
                <a:solidFill>
                  <a:schemeClr val="tx1"/>
                </a:solidFill>
              </a:rPr>
              <a:t>full_text</a:t>
            </a:r>
            <a:r>
              <a:rPr lang="en-US" altLang="en-US" sz="1500" dirty="0">
                <a:solidFill>
                  <a:schemeClr val="tx1"/>
                </a:solidFill>
              </a:rPr>
              <a:t>: the constructed input text used for embedding and semantic search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7"/>
            </a:pPr>
            <a:r>
              <a:rPr lang="en-US" altLang="en-US" sz="1500" dirty="0">
                <a:solidFill>
                  <a:schemeClr val="tx1"/>
                </a:solidFill>
              </a:rPr>
              <a:t>input: A formatted input string describing the issue</a:t>
            </a:r>
          </a:p>
          <a:p>
            <a:pPr marL="292608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7"/>
            </a:pPr>
            <a:r>
              <a:rPr lang="en-US" altLang="en-US" sz="1500" dirty="0">
                <a:solidFill>
                  <a:schemeClr val="tx1"/>
                </a:solidFill>
              </a:rPr>
              <a:t>output – a generated summary response or formatted version of the issue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075E7461-73A4-2933-57A5-EF3485600DE7}"/>
              </a:ext>
            </a:extLst>
          </p:cNvPr>
          <p:cNvSpPr txBox="1">
            <a:spLocks/>
          </p:cNvSpPr>
          <p:nvPr/>
        </p:nvSpPr>
        <p:spPr>
          <a:xfrm>
            <a:off x="2539825" y="11138009"/>
            <a:ext cx="5476941" cy="4890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b="1" dirty="0"/>
              <a:t>Data Source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31218A-47E7-C14F-2BF7-98CD37A6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90" y="6419955"/>
            <a:ext cx="349505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 https://issues.apache.org/jira/rest/api/2/search </a:t>
            </a:r>
          </a:p>
        </p:txBody>
      </p:sp>
    </p:spTree>
    <p:extLst>
      <p:ext uri="{BB962C8B-B14F-4D97-AF65-F5344CB8AC3E}">
        <p14:creationId xmlns:p14="http://schemas.microsoft.com/office/powerpoint/2010/main" val="2936179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70CF-5DC7-0573-1986-BB856687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45B5A5-38FB-06FF-35F6-492F329908D8}"/>
              </a:ext>
            </a:extLst>
          </p:cNvPr>
          <p:cNvSpPr txBox="1"/>
          <p:nvPr/>
        </p:nvSpPr>
        <p:spPr>
          <a:xfrm>
            <a:off x="788281" y="1770445"/>
            <a:ext cx="5743840" cy="439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[JSON File Upload]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process_jason_data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Extract: ID, type, summary, status, priority, description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json_to_pickle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create_chunks_from_pickle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Chunk Size equal to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one Jira issue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build_embeddings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SentenceTransformer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BGE encoding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63991-3FE7-DC71-6269-2E25BD565535}"/>
              </a:ext>
            </a:extLst>
          </p:cNvPr>
          <p:cNvSpPr txBox="1"/>
          <p:nvPr/>
        </p:nvSpPr>
        <p:spPr>
          <a:xfrm>
            <a:off x="6332546" y="2096269"/>
            <a:ext cx="5743834" cy="407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build_embeddings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SentenceTransformer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BGE encoding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[FAISS Index Creation] →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IndexFlatIP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similarity search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optimize_search_parameters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Auto-tune thresholds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[Model Loading] → Initialize Llama 2 7B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[READY STATE] → System ready for queries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8E98E-409C-B8FB-7BBB-738D6F8E1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IN" dirty="0"/>
              <a:t>Training* Pipeline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B5CFA4-07F1-0DB3-58C5-8DDFFA07CC5C}"/>
              </a:ext>
            </a:extLst>
          </p:cNvPr>
          <p:cNvCxnSpPr/>
          <p:nvPr/>
        </p:nvCxnSpPr>
        <p:spPr>
          <a:xfrm>
            <a:off x="6156434" y="1891862"/>
            <a:ext cx="0" cy="436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6DD151AE-EBBA-0C69-9B8E-0837CCB2C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800" y="6333029"/>
            <a:ext cx="1187757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data so that the pre-trained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and FAISS can be used for question-answering.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the system pipeline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model itself</a:t>
            </a:r>
          </a:p>
        </p:txBody>
      </p:sp>
    </p:spTree>
    <p:extLst>
      <p:ext uri="{BB962C8B-B14F-4D97-AF65-F5344CB8AC3E}">
        <p14:creationId xmlns:p14="http://schemas.microsoft.com/office/powerpoint/2010/main" val="226409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4CB6B-B345-5896-2073-246057884834}"/>
              </a:ext>
            </a:extLst>
          </p:cNvPr>
          <p:cNvSpPr txBox="1"/>
          <p:nvPr/>
        </p:nvSpPr>
        <p:spPr>
          <a:xfrm>
            <a:off x="2372708" y="1813040"/>
            <a:ext cx="6597871" cy="418242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handle_fast_queries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Statistical queries (counts, distributions)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 (if not statistical)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semantic_search_enhanced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Multi-tier search:</a:t>
            </a:r>
          </a:p>
          <a:p>
            <a:pPr lvl="4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Exact match (issue IDs)</a:t>
            </a:r>
          </a:p>
          <a:p>
            <a:pPr lvl="4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Vector similarity (BGE embeddings)  </a:t>
            </a:r>
          </a:p>
          <a:p>
            <a:pPr lvl="4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Keyword fallback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[Context Assembly] → Top-K relevant issues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↓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generate_response_advanced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()] → Llama 2 with context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E5CAF6-FE94-F0AA-61A6-CCFD4611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IN" dirty="0"/>
              <a:t>Query Processing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9F27E-4B49-CDC7-31E9-0F8133E05D35}"/>
              </a:ext>
            </a:extLst>
          </p:cNvPr>
          <p:cNvSpPr txBox="1"/>
          <p:nvPr/>
        </p:nvSpPr>
        <p:spPr>
          <a:xfrm>
            <a:off x="531290" y="1963583"/>
            <a:ext cx="2817315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[User Query]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9571A-6751-8E46-1F04-D860A7BA9937}"/>
              </a:ext>
            </a:extLst>
          </p:cNvPr>
          <p:cNvSpPr txBox="1"/>
          <p:nvPr/>
        </p:nvSpPr>
        <p:spPr>
          <a:xfrm>
            <a:off x="9509744" y="4915689"/>
            <a:ext cx="2621824" cy="134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chemeClr val="accent1"/>
              </a:buClr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[Natural Language Response] → User-friendly answer</a:t>
            </a:r>
          </a:p>
          <a:p>
            <a:pPr lvl="0">
              <a:lnSpc>
                <a:spcPct val="115000"/>
              </a:lnSpc>
              <a:buClr>
                <a:schemeClr val="accent1"/>
              </a:buClr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D510B1-C00D-8177-275F-8796ACA408AA}"/>
              </a:ext>
            </a:extLst>
          </p:cNvPr>
          <p:cNvCxnSpPr>
            <a:cxnSpLocks/>
          </p:cNvCxnSpPr>
          <p:nvPr/>
        </p:nvCxnSpPr>
        <p:spPr>
          <a:xfrm>
            <a:off x="1907628" y="2207172"/>
            <a:ext cx="362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3D4106-5A8C-EA34-22EB-B72C201357EC}"/>
              </a:ext>
            </a:extLst>
          </p:cNvPr>
          <p:cNvCxnSpPr>
            <a:cxnSpLocks/>
          </p:cNvCxnSpPr>
          <p:nvPr/>
        </p:nvCxnSpPr>
        <p:spPr>
          <a:xfrm>
            <a:off x="9059918" y="5189482"/>
            <a:ext cx="362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82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29E5-7A57-31FD-FDDB-7DF1E82A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FCB4EDE-1DFA-297E-E557-7B34C0F1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Tech Stack and Libraries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2649B-D3A1-4506-CDC8-BB161E7E8422}"/>
              </a:ext>
            </a:extLst>
          </p:cNvPr>
          <p:cNvSpPr/>
          <p:nvPr/>
        </p:nvSpPr>
        <p:spPr>
          <a:xfrm>
            <a:off x="1289559" y="1885259"/>
            <a:ext cx="2998662" cy="2079768"/>
          </a:xfrm>
          <a:prstGeom prst="rect">
            <a:avLst/>
          </a:prstGeom>
          <a:solidFill>
            <a:srgbClr val="002E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Core ML/AI</a:t>
            </a:r>
          </a:p>
          <a:p>
            <a:endParaRPr lang="en-US" sz="16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Llama 2 7B (Quantized)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Llama- </a:t>
            </a:r>
            <a:r>
              <a:rPr lang="en-US" sz="1400" dirty="0" err="1"/>
              <a:t>cpp</a:t>
            </a:r>
            <a:r>
              <a:rPr lang="en-US" sz="1400" dirty="0"/>
              <a:t>- python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SentenceTransformers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FAISS (Vector Search)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71A4F-374D-485E-FE40-413BADBC234B}"/>
              </a:ext>
            </a:extLst>
          </p:cNvPr>
          <p:cNvSpPr/>
          <p:nvPr/>
        </p:nvSpPr>
        <p:spPr>
          <a:xfrm>
            <a:off x="1289559" y="4112926"/>
            <a:ext cx="2998662" cy="2079768"/>
          </a:xfrm>
          <a:prstGeom prst="rect">
            <a:avLst/>
          </a:prstGeom>
          <a:solidFill>
            <a:srgbClr val="002E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Data Processing</a:t>
            </a:r>
          </a:p>
          <a:p>
            <a:endParaRPr lang="en-US" sz="16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NumPy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Pandas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Pickle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JSON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6E396B-16D3-82C4-7362-422A04E8DE2E}"/>
              </a:ext>
            </a:extLst>
          </p:cNvPr>
          <p:cNvSpPr/>
          <p:nvPr/>
        </p:nvSpPr>
        <p:spPr>
          <a:xfrm>
            <a:off x="6886319" y="4112926"/>
            <a:ext cx="2998662" cy="2079768"/>
          </a:xfrm>
          <a:prstGeom prst="rect">
            <a:avLst/>
          </a:prstGeom>
          <a:solidFill>
            <a:srgbClr val="002E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Utilities</a:t>
            </a:r>
          </a:p>
          <a:p>
            <a:endParaRPr lang="en-US" sz="16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Requests (Model Download)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TQDM (Progress Bars)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Collections (Statistics)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Treading (Concurrency)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83DE3F-7BB3-956B-1C6E-93F3BA8100AB}"/>
              </a:ext>
            </a:extLst>
          </p:cNvPr>
          <p:cNvSpPr/>
          <p:nvPr/>
        </p:nvSpPr>
        <p:spPr>
          <a:xfrm>
            <a:off x="6886319" y="1885259"/>
            <a:ext cx="2998662" cy="2079768"/>
          </a:xfrm>
          <a:prstGeom prst="rect">
            <a:avLst/>
          </a:prstGeom>
          <a:solidFill>
            <a:srgbClr val="002E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Web Interface</a:t>
            </a:r>
          </a:p>
          <a:p>
            <a:endParaRPr lang="en-US" sz="16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Gradio</a:t>
            </a:r>
            <a:endParaRPr lang="en-US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Python Threading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Process Tracking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File Upload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46E07-A27D-DB83-98C6-F57E0F19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CD02182-1276-889D-A96E-7FD0D436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IN" dirty="0"/>
              <a:t>Model Details and Parameters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43296961-891A-6490-61EE-483F97E966D0}"/>
              </a:ext>
            </a:extLst>
          </p:cNvPr>
          <p:cNvSpPr txBox="1">
            <a:spLocks/>
          </p:cNvSpPr>
          <p:nvPr/>
        </p:nvSpPr>
        <p:spPr>
          <a:xfrm>
            <a:off x="1146313" y="1791400"/>
            <a:ext cx="4460682" cy="442105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Llama 2 7B quantized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n_ctx</a:t>
            </a:r>
            <a:r>
              <a:rPr lang="en-IN" dirty="0"/>
              <a:t>= 4096,       Context window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n_batch</a:t>
            </a:r>
            <a:r>
              <a:rPr lang="en-IN" dirty="0"/>
              <a:t>=512,      Batch processing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Embedding size: 768-dimensional vectors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FAISS vector index for similarity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Max_tokens</a:t>
            </a:r>
            <a:r>
              <a:rPr lang="en-IN" dirty="0"/>
              <a:t>: 1024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 err="1"/>
              <a:t>Top_k</a:t>
            </a:r>
            <a:r>
              <a:rPr lang="en-IN" dirty="0"/>
              <a:t>: How many similar issues to retrieve(3 to 5)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Multi-tier search strategy</a:t>
            </a:r>
            <a:r>
              <a:rPr lang="en-IN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1. Exact match (issue IDs)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2. Semantic similarity (vector search) 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3. Keyword fallback (text matching)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CC4BC-12F5-D046-8957-CE1C330E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76" y="1955724"/>
            <a:ext cx="4788146" cy="147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7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7E74-9160-6B3C-A474-E235534B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4B43-29B2-8AD3-63F0-8AE36688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CA07-8816-4608-89FA-DB2BB9597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59"/>
            <a:ext cx="10058400" cy="4356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#1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https://arxiv.org/html/2406.02290v1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dirty="0"/>
              <a:t>A Study of Optimizations for Fine-tuning Large Language Models, </a:t>
            </a:r>
            <a:r>
              <a:rPr lang="en-IN" sz="1100" dirty="0"/>
              <a:t>Microsoft Arjun Singh  , Nikhil Pandey</a:t>
            </a:r>
            <a:r>
              <a:rPr lang="en-IN" sz="1100" baseline="30000" dirty="0"/>
              <a:t>2</a:t>
            </a:r>
            <a:r>
              <a:rPr lang="en-IN" sz="1100" dirty="0"/>
              <a:t> , Anup </a:t>
            </a:r>
            <a:r>
              <a:rPr lang="en-IN" sz="1100" dirty="0" err="1"/>
              <a:t>Shirgaonkar</a:t>
            </a:r>
            <a:r>
              <a:rPr lang="en-IN" sz="1100" dirty="0"/>
              <a:t>, Pavan Manoj, Vijay Aski </a:t>
            </a:r>
          </a:p>
          <a:p>
            <a:pPr marL="0" indent="0">
              <a:buNone/>
            </a:pP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#2 https://ollama.com/library/llama2 </a:t>
            </a:r>
          </a:p>
          <a:p>
            <a:pPr marL="0" indent="0">
              <a:buNone/>
            </a:pP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#3 https://huggingface.co/docs/peft</a:t>
            </a:r>
          </a:p>
          <a:p>
            <a:pPr marL="0" indent="0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43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37ECE-F676-355D-F431-D2369EB6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28D57-D490-0C6D-4306-C7D283B2D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56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A78F-2655-3EB4-4AC9-67BE6F77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803EA5-3502-C648-F868-C5F6A5B09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361" y="1781857"/>
            <a:ext cx="9281179" cy="2971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77672-A7A3-B26F-A054-9A7A9FB87CAB}"/>
              </a:ext>
            </a:extLst>
          </p:cNvPr>
          <p:cNvSpPr txBox="1"/>
          <p:nvPr/>
        </p:nvSpPr>
        <p:spPr>
          <a:xfrm>
            <a:off x="1171361" y="4202287"/>
            <a:ext cx="6097314" cy="1984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Tokenization: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Embedding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Positional encoding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to GPT in batches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 length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Attention Mechanism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53BACD0-AFF9-F439-AB24-A58992AE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446"/>
            <a:ext cx="12192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#Source:</a:t>
            </a:r>
            <a:r>
              <a:rPr lang="en-US" sz="1600" dirty="0"/>
              <a:t>Raschka, Sebastian. </a:t>
            </a:r>
            <a:r>
              <a:rPr lang="en-US" sz="1600" i="1" dirty="0"/>
              <a:t>Build A Large Language Model (From Scratch)</a:t>
            </a:r>
            <a:r>
              <a:rPr lang="en-US" sz="1600" dirty="0"/>
              <a:t>. Manning, 2024. ISBN: 978-1633437166.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68531-FD9C-57BA-317A-897A6797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965" y="4753338"/>
            <a:ext cx="4334725" cy="152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21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563E6-36EA-8D82-2D4A-7CD9E7A2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5920-F4B9-CC50-7EDC-B0ED0725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C32D-7AF1-28B0-8DB0-843C9CD90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648030" cy="43579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Metrics: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100" dirty="0"/>
              <a:t>Cross entropy:</a:t>
            </a:r>
            <a:endParaRPr lang="en-IN" sz="21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Accuracy</a:t>
            </a:r>
            <a:r>
              <a:rPr lang="en-US" dirty="0"/>
              <a:t>: Task-specific correctness (e.g., question answering). Correct Predictions/Total Predictions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7BB62-B1AD-9913-B28B-424C4D0A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896" y="2216442"/>
            <a:ext cx="5893103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808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16062</TotalTime>
  <Words>990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Calibri Light (Headings)</vt:lpstr>
      <vt:lpstr>Wingdings</vt:lpstr>
      <vt:lpstr>Custom Design</vt:lpstr>
      <vt:lpstr>1_Custom Design</vt:lpstr>
      <vt:lpstr>Retrospect</vt:lpstr>
      <vt:lpstr>PowerPoint Presentation</vt:lpstr>
      <vt:lpstr>Problem Statement</vt:lpstr>
      <vt:lpstr>Dataset Overview</vt:lpstr>
      <vt:lpstr>Dataset Overview</vt:lpstr>
      <vt:lpstr>Training* Pipeline</vt:lpstr>
      <vt:lpstr>Query Processing Pipeline</vt:lpstr>
      <vt:lpstr>Tech Stack and Libraries</vt:lpstr>
      <vt:lpstr>Model Details and Parameters</vt:lpstr>
      <vt:lpstr>Citations</vt:lpstr>
      <vt:lpstr>Appendix</vt:lpstr>
      <vt:lpstr>Methodology</vt:lpstr>
      <vt:lpstr>Model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Srivastava</dc:creator>
  <cp:lastModifiedBy>Abhinav Srivastava</cp:lastModifiedBy>
  <cp:revision>337</cp:revision>
  <dcterms:created xsi:type="dcterms:W3CDTF">2024-11-15T09:42:49Z</dcterms:created>
  <dcterms:modified xsi:type="dcterms:W3CDTF">2025-06-22T08:35:01Z</dcterms:modified>
</cp:coreProperties>
</file>